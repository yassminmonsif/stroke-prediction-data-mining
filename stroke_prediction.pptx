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4168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68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fedesoriano/stroke-prediction-dataset?utm_source=chatgpt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3C93A8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E8543E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RISK PREDICTION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746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Machine Learning Analysis of Patient Health Data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· Risk Factors · Predictive Modeling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663440"/>
            <a:ext cx="457200" cy="36576"/>
          </a:xfrm>
          <a:prstGeom prst="rect">
            <a:avLst/>
          </a:prstGeom>
          <a:solidFill>
            <a:srgbClr val="E8543E"/>
          </a:solidFill>
          <a:ln/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70E8E4E-7693-718C-9D55-4ECFA96B9BE2}"/>
              </a:ext>
            </a:extLst>
          </p:cNvPr>
          <p:cNvSpPr txBox="1"/>
          <p:nvPr/>
        </p:nvSpPr>
        <p:spPr>
          <a:xfrm>
            <a:off x="6752706" y="3886200"/>
            <a:ext cx="3610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Dataset link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A79C1B8D-BBEB-5522-CE25-62CCEB4449F1}"/>
              </a:ext>
            </a:extLst>
          </p:cNvPr>
          <p:cNvSpPr txBox="1"/>
          <p:nvPr/>
        </p:nvSpPr>
        <p:spPr>
          <a:xfrm>
            <a:off x="712123" y="4729849"/>
            <a:ext cx="464958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Presented By </a:t>
            </a:r>
            <a:br>
              <a:rPr lang="en-US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</a:br>
            <a:endParaRPr lang="en-US" b="1" u="sng" dirty="0">
              <a:solidFill>
                <a:srgbClr val="FFFFFF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yassmin</a:t>
            </a: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abdelmonsif</a:t>
            </a:r>
            <a:endParaRPr lang="en-US" sz="16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015518EF-D248-D0FF-4FBA-E558537136F2}"/>
              </a:ext>
            </a:extLst>
          </p:cNvPr>
          <p:cNvSpPr txBox="1"/>
          <p:nvPr/>
        </p:nvSpPr>
        <p:spPr>
          <a:xfrm>
            <a:off x="6752706" y="4663440"/>
            <a:ext cx="464958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Supervised by</a:t>
            </a:r>
            <a:br>
              <a:rPr lang="en-US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</a:br>
            <a:endParaRPr lang="en-US" b="1" u="sng" dirty="0">
              <a:solidFill>
                <a:srgbClr val="FFFFFF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Dr.Mohamed</a:t>
            </a: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Kholief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Predict Stroke Risk?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3566160"/>
          </a:xfrm>
          <a:prstGeom prst="roundRect">
            <a:avLst>
              <a:gd name="adj" fmla="val 2564"/>
            </a:avLst>
          </a:prstGeom>
          <a:solidFill>
            <a:srgbClr val="F4F7F8"/>
          </a:solidFill>
          <a:ln/>
          <a:effectLst>
            <a:outerShdw blurRad="101600" dist="381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88236" y="2148840"/>
            <a:ext cx="914400" cy="91440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88236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🩺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Motivation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49040"/>
            <a:ext cx="29535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is a leading cause of death and long-term disability. Early risk identification allows preventive intervention.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1828800"/>
            <a:ext cx="3593592" cy="3566160"/>
          </a:xfrm>
          <a:prstGeom prst="roundRect">
            <a:avLst>
              <a:gd name="adj" fmla="val 2564"/>
            </a:avLst>
          </a:prstGeom>
          <a:solidFill>
            <a:srgbClr val="F4F7F8"/>
          </a:solidFill>
          <a:ln/>
          <a:effectLst>
            <a:outerShdw blurRad="101600" dist="381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0428" y="2148840"/>
            <a:ext cx="914400" cy="914400"/>
          </a:xfrm>
          <a:prstGeom prst="ellipse">
            <a:avLst/>
          </a:prstGeom>
          <a:solidFill>
            <a:srgbClr val="3C93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10428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324612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Approach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3749040"/>
            <a:ext cx="29535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analyze demographic, lifestyle, and clinical variables to uncover patterns linked to stroke occurrence.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93024" y="1828800"/>
            <a:ext cx="3593592" cy="3566160"/>
          </a:xfrm>
          <a:prstGeom prst="roundRect">
            <a:avLst>
              <a:gd name="adj" fmla="val 2564"/>
            </a:avLst>
          </a:prstGeom>
          <a:solidFill>
            <a:srgbClr val="F4F7F8"/>
          </a:solidFill>
          <a:ln/>
          <a:effectLst>
            <a:outerShdw blurRad="101600" dist="381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32620" y="2148840"/>
            <a:ext cx="914400" cy="9144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53262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8467344" y="324612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Goal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13064" y="3749040"/>
            <a:ext cx="29535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evaluate a machine-learning model that estimates an individual patient's probability of stroke.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5,110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1965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651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Recorded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DE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965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651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BMI Values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15400" y="1965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651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Captured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114800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Demographic:  gender, age, residence type, marital status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Clinical:  hypertension, heart disease, avg. glucose level, BMI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Lifestyle:  work type, smoking status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 stroke (0 = No, 1 = Yes)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Highly Imbalanced Target</a:t>
            </a:r>
            <a:endParaRPr lang="en-US" sz="3200" dirty="0"/>
          </a:p>
        </p:txBody>
      </p:sp>
      <p:pic>
        <p:nvPicPr>
          <p:cNvPr id="4" name="Image 0" descr="charts/pie_stro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493776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920240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FDEDE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12648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C9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4,861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606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no stroke (95.1%)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3474720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FDEDE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126480" y="3566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249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4160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stroke (4.9%)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507492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in ~20 patients experienced a stroke — this imbalance is why accuracy alone is misleading, and why Recall, Precision and ROC-AUC matter more for model evaluation.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FACTORS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Age, Glucose &amp; BMI vs. Stroke</a:t>
            </a:r>
            <a:endParaRPr lang="en-US" sz="3000" dirty="0"/>
          </a:p>
        </p:txBody>
      </p:sp>
      <p:pic>
        <p:nvPicPr>
          <p:cNvPr id="4" name="Image 0" descr="charts/age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370332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8064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</p:txBody>
      </p:sp>
      <p:pic>
        <p:nvPicPr>
          <p:cNvPr id="6" name="Image 1" descr="charts/glucose_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00200"/>
            <a:ext cx="3703320" cy="4206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97680" y="58064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Glucose Level</a:t>
            </a:r>
            <a:endParaRPr lang="en-US" sz="1300" dirty="0"/>
          </a:p>
        </p:txBody>
      </p:sp>
      <p:pic>
        <p:nvPicPr>
          <p:cNvPr id="8" name="Image 2" descr="charts/bmi_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600200"/>
            <a:ext cx="3703320" cy="42062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38160" y="58064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patients skew markedly older, with higher glucose levels — a clearer signal than BMI.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Hypertension &amp; Heart Disease Raise Stroke Risk</a:t>
            </a:r>
            <a:endParaRPr lang="en-US" sz="2700" dirty="0"/>
          </a:p>
        </p:txBody>
      </p:sp>
      <p:pic>
        <p:nvPicPr>
          <p:cNvPr id="4" name="Image 0" descr="charts/hyp_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554480"/>
            <a:ext cx="1005840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172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Hypertension: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rate more than triples, from 4.0% to 13.3%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6172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Disease: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rate rises from 4.2% to 17.0%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Stroke Rate by Smoking Status</a:t>
            </a:r>
            <a:endParaRPr lang="en-US" sz="3000" dirty="0"/>
          </a:p>
        </p:txBody>
      </p:sp>
      <p:pic>
        <p:nvPicPr>
          <p:cNvPr id="4" name="Image 0" descr="charts/smo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554480"/>
            <a:ext cx="9418320" cy="4663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smokers show the highest stroke rate (7.9%) — likely reflecting cumulative exposure and older average age in this group.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389120"/>
            <a:ext cx="4114800" cy="4114800"/>
          </a:xfrm>
          <a:prstGeom prst="ellipse">
            <a:avLst/>
          </a:prstGeom>
          <a:solidFill>
            <a:srgbClr val="3C93A8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Approach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94360" cy="59436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45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116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missing BMI values; scale numeric features; one-hot encode categorical variables.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594360" cy="59436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8620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8163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18211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SMOTE oversampling on the training set to correct the 95% / 5% class imbalance.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32504"/>
            <a:ext cx="594360" cy="59436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03250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98678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352544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from 21 processed features to the 10 most predictive (age, BMI, hypertension, heart disease, marital status, work type, smoking, and more).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202936"/>
            <a:ext cx="594360" cy="59436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520293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515721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5522976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evaluate Logistic Regression, Decision Tree, Random Forest, KNN and XGBoost using Accuracy, Precision, Recall, F1 and ROC-AUC.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Five Models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all 21 processed features, ranked by F1-Score (as in the notebook's model comparison step)</a:t>
            </a:r>
            <a:endParaRPr lang="en-US" sz="1300" dirty="0"/>
          </a:p>
        </p:txBody>
      </p:sp>
      <p:pic>
        <p:nvPicPr>
          <p:cNvPr id="5" name="Image 0" descr="charts/model_comparison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9784080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leads on F1-Score and ROC-AUC — the basis for choosing it (with feature selection) as the final model.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Between Clinical Variables</a:t>
            </a:r>
            <a:endParaRPr lang="en-US" sz="2900" dirty="0"/>
          </a:p>
        </p:txBody>
      </p:sp>
      <p:pic>
        <p:nvPicPr>
          <p:cNvPr id="4" name="Image 0" descr="charts/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1508760"/>
            <a:ext cx="7498080" cy="4663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has the strongest correlation with stroke (0.25); hypertension, heart disease and glucose level follow, each weakly but positively correlated.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Model: Logistic Regression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the 10 selected features after SMOTE balancing</a:t>
            </a:r>
            <a:endParaRPr lang="en-US" sz="1300" dirty="0"/>
          </a:p>
        </p:txBody>
      </p:sp>
      <p:pic>
        <p:nvPicPr>
          <p:cNvPr id="5" name="Image 0" descr="chart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4480560" cy="4206240"/>
          </a:xfrm>
          <a:prstGeom prst="rect">
            <a:avLst/>
          </a:prstGeom>
        </p:spPr>
      </p:pic>
      <p:pic>
        <p:nvPicPr>
          <p:cNvPr id="6" name="Image 1" descr="charts/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783080"/>
            <a:ext cx="4937760" cy="40233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378440" y="173736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F4F7F8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10378440" y="184708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74.9%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10378440" y="24231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10378440" y="315468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F4F7F8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0378440" y="326440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0378440" y="38404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10378440" y="457200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F4F7F8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0378440" y="468172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0.842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10378440" y="52578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correctly flags 84% of true stroke cases (42 of 50), trading some false alarms for fewer missed diagnoses — a reasonable choice in a screening context.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4E"/>
                </a:solidFill>
                <a:latin typeface="Aptos Display"/>
              </a:defRPr>
            </a:pPr>
            <a:r>
              <a:t>16. 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2"/>
                </a:solidFill>
                <a:latin typeface="Aptos"/>
              </a:defRPr>
            </a:pPr>
            <a:r>
              <a:rPr dirty="0"/>
              <a:t>Stroke Prediction • Data Mining Project                                     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463039"/>
            <a:ext cx="49743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0587D"/>
                </a:solidFill>
                <a:latin typeface="Aptos Display"/>
              </a:defRPr>
            </a:pPr>
            <a:r>
              <a:rPr dirty="0"/>
              <a:t>Conclusion</a:t>
            </a:r>
          </a:p>
          <a:p>
            <a:pPr>
              <a:spcBef>
                <a:spcPts val="800"/>
              </a:spcBef>
              <a:defRPr sz="1600">
                <a:solidFill>
                  <a:srgbClr val="3C4652"/>
                </a:solidFill>
                <a:latin typeface="Aptos"/>
              </a:defRPr>
            </a:pPr>
            <a:r>
              <a:rPr dirty="0"/>
              <a:t>A complete data-mining workflow was implemented: EDA, cleaning, preprocessing, SMOTE, model comparison, feature selection, evaluation, and an interactive prediction interface.</a:t>
            </a:r>
            <a:br>
              <a:rPr dirty="0"/>
            </a:br>
            <a:br>
              <a:rPr dirty="0"/>
            </a:br>
            <a:r>
              <a:rPr dirty="0"/>
              <a:t>The final experiment used Logistic Regression with 10 selected features and achieved ROC-AUC = 0.842 and Recall = 84% on the test 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3952" y="1463039"/>
            <a:ext cx="488289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0587D"/>
                </a:solidFill>
                <a:latin typeface="Aptos Display"/>
              </a:defRPr>
            </a:pPr>
            <a:r>
              <a:t>Future Work</a:t>
            </a:r>
          </a:p>
          <a:p>
            <a:pPr>
              <a:spcBef>
                <a:spcPts val="800"/>
              </a:spcBef>
              <a:defRPr sz="1500">
                <a:solidFill>
                  <a:srgbClr val="3C4652"/>
                </a:solidFill>
                <a:latin typeface="Aptos"/>
              </a:defRPr>
            </a:pPr>
            <a:r>
              <a:t>• Hyperparameter tuning</a:t>
            </a:r>
            <a:br/>
            <a:r>
              <a:t>• Cross-validation</a:t>
            </a:r>
            <a:br/>
            <a:r>
              <a:t>• Alternative imbalance techniques</a:t>
            </a:r>
            <a:br/>
            <a:r>
              <a:t>• Additional feature engineering</a:t>
            </a:r>
            <a:br/>
            <a:r>
              <a:t>• External dataset validation</a:t>
            </a:r>
            <a:br/>
            <a:r>
              <a:t>• Explainable AI for individual predictions</a:t>
            </a:r>
            <a:br/>
            <a:r>
              <a:t>• Web-based deployment</a:t>
            </a:r>
            <a:br/>
            <a:r>
              <a:t>• Further analysis of false positives/negatives</a:t>
            </a:r>
            <a:br/>
            <a:r>
              <a:t>• Clinical validation before any real-world use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3C93A8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106070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4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cases are rare (4.9%) — accuracy alone is misleading; Recall and ROC-AUC drive evaluation.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4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hypertension, heart disease and glucose level are the strongest observed risk signals.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4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and feature selection meaningfully improved the model's ability to catch true stroke cases.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4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Logistic Regression model reaches 84% Recall and 0.842 ROC-AUC on unseen data.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screening aid, not a diagnosis — findings should support, not replace, clinical judgment.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780</Words>
  <Application>Microsoft Office PowerPoint</Application>
  <PresentationFormat>Widescreen</PresentationFormat>
  <Paragraphs>121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Yassmin Abd El Monsif</cp:lastModifiedBy>
  <cp:revision>3</cp:revision>
  <dcterms:created xsi:type="dcterms:W3CDTF">2026-09-16T05:05:58Z</dcterms:created>
  <dcterms:modified xsi:type="dcterms:W3CDTF">2026-09-16T05:16:25Z</dcterms:modified>
</cp:coreProperties>
</file>